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2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/>
  <p:notesSz cx="6858000" cy="12191365"/>
  <p:embeddedFontLst>
    <p:embeddedFont>
      <p:font typeface="Crimson Pro SemiBold" pitchFamily="34" charset="0"/>
      <p:bold r:id="rId17"/>
    </p:embeddedFont>
    <p:embeddedFont>
      <p:font typeface="Crimson Pro SemiBold" pitchFamily="34" charset="-122"/>
      <p:bold r:id="rId18"/>
    </p:embeddedFont>
    <p:embeddedFont>
      <p:font typeface="Crimson Pro SemiBold" pitchFamily="34" charset="-120"/>
      <p:bold r:id="rId19"/>
    </p:embeddedFont>
    <p:embeddedFont>
      <p:font typeface="Heebo" pitchFamily="34" charset="0"/>
      <p:regular r:id="rId20"/>
    </p:embeddedFont>
    <p:embeddedFont>
      <p:font typeface="Heebo" pitchFamily="34" charset="-122"/>
      <p:regular r:id="rId21"/>
    </p:embeddedFont>
    <p:embeddedFont>
      <p:font typeface="Heebo" pitchFamily="34" charset="-120"/>
      <p:regular r:id="rId22"/>
    </p:embeddedFont>
    <p:embeddedFont>
      <p:font typeface="Heebo Bold" pitchFamily="34" charset="0"/>
      <p:bold r:id="rId23"/>
    </p:embeddedFont>
    <p:embeddedFont>
      <p:font typeface="Heebo Bold" pitchFamily="34" charset="-122"/>
      <p:bold r:id="rId24"/>
    </p:embeddedFont>
    <p:embeddedFont>
      <p:font typeface="Heebo Bold" pitchFamily="34" charset="-120"/>
      <p:bold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4.sv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80480"/>
            <a:ext cx="6296860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Hostel Outing Permission &amp; Approval Management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245247"/>
            <a:ext cx="6906444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Digitalizing Hostel Outing Approval, Gate Verification &amp; Return Tracking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760291"/>
            <a:ext cx="2764860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</p:spPr>
      </p:sp>
      <p:sp>
        <p:nvSpPr>
          <p:cNvPr id="6" name="Text 3"/>
          <p:cNvSpPr/>
          <p:nvPr/>
        </p:nvSpPr>
        <p:spPr>
          <a:xfrm>
            <a:off x="5346765" y="3816945"/>
            <a:ext cx="3147636" cy="1738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INTERNSHIP ASSESSMENT PROJECT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092674" y="3760291"/>
            <a:ext cx="3319578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06078" y="3816945"/>
            <a:ext cx="3702354" cy="1738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FULL-STACK ROLE-BASED WEB APPLICATION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233360" y="4260056"/>
            <a:ext cx="6296860" cy="8174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Developed by: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Shrikaran P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STUDENT → HOD → WARDEN → WATCHMAN → AUDIT HISTORY</a:t>
            </a:r>
            <a:endParaRPr lang="en-US" sz="1450" dirty="0"/>
          </a:p>
        </p:txBody>
      </p:sp>
      <p:sp>
        <p:nvSpPr>
          <p:cNvPr id="10" name="Rounded Rectangle 9"/>
          <p:cNvSpPr/>
          <p:nvPr/>
        </p:nvSpPr>
        <p:spPr>
          <a:xfrm>
            <a:off x="11053445" y="6478905"/>
            <a:ext cx="1086485" cy="379095"/>
          </a:xfrm>
          <a:prstGeom prst="round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2874"/>
            <a:ext cx="10868745" cy="4134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57796"/>
            <a:ext cx="5273047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Traditional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568648"/>
            <a:ext cx="2590239" cy="471190"/>
          </a:xfrm>
          <a:prstGeom prst="roundRect">
            <a:avLst>
              <a:gd name="adj" fmla="val 4212"/>
            </a:avLst>
          </a:prstGeom>
          <a:solidFill>
            <a:srgbClr val="F2EEEE"/>
          </a:solidFill>
        </p:spPr>
      </p:sp>
      <p:sp>
        <p:nvSpPr>
          <p:cNvPr id="5" name="Text 3"/>
          <p:cNvSpPr/>
          <p:nvPr/>
        </p:nvSpPr>
        <p:spPr>
          <a:xfrm>
            <a:off x="793730" y="1700907"/>
            <a:ext cx="2325729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Paper Slips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44283" y="1568648"/>
            <a:ext cx="2590239" cy="471190"/>
          </a:xfrm>
          <a:prstGeom prst="roundRect">
            <a:avLst>
              <a:gd name="adj" fmla="val 4212"/>
            </a:avLst>
          </a:prstGeom>
          <a:solidFill>
            <a:srgbClr val="F2EEEE"/>
          </a:solidFill>
        </p:spPr>
      </p:sp>
      <p:sp>
        <p:nvSpPr>
          <p:cNvPr id="7" name="Text 5"/>
          <p:cNvSpPr/>
          <p:nvPr/>
        </p:nvSpPr>
        <p:spPr>
          <a:xfrm>
            <a:off x="3476538" y="1700907"/>
            <a:ext cx="2325729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Manual Registers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2132409"/>
            <a:ext cx="2590239" cy="471190"/>
          </a:xfrm>
          <a:prstGeom prst="roundRect">
            <a:avLst>
              <a:gd name="adj" fmla="val 4212"/>
            </a:avLst>
          </a:prstGeom>
          <a:solidFill>
            <a:srgbClr val="F2EEEE"/>
          </a:solidFill>
        </p:spPr>
      </p:sp>
      <p:sp>
        <p:nvSpPr>
          <p:cNvPr id="9" name="Text 7"/>
          <p:cNvSpPr/>
          <p:nvPr/>
        </p:nvSpPr>
        <p:spPr>
          <a:xfrm>
            <a:off x="793730" y="2264668"/>
            <a:ext cx="2325729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Phone Calls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44283" y="2132409"/>
            <a:ext cx="2590239" cy="471190"/>
          </a:xfrm>
          <a:prstGeom prst="roundRect">
            <a:avLst>
              <a:gd name="adj" fmla="val 4212"/>
            </a:avLst>
          </a:prstGeom>
          <a:solidFill>
            <a:srgbClr val="F2EEEE"/>
          </a:solidFill>
        </p:spPr>
      </p:sp>
      <p:sp>
        <p:nvSpPr>
          <p:cNvPr id="11" name="Text 9"/>
          <p:cNvSpPr/>
          <p:nvPr/>
        </p:nvSpPr>
        <p:spPr>
          <a:xfrm>
            <a:off x="3476538" y="2264668"/>
            <a:ext cx="2325729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523" y="1257796"/>
            <a:ext cx="5273047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Pain Points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523" y="1557040"/>
            <a:ext cx="5273047" cy="1029295"/>
          </a:xfrm>
          <a:prstGeom prst="rect">
            <a:avLst/>
          </a:prstGeom>
          <a:noFill/>
        </p:spPr>
        <p:txBody>
          <a:bodyPr wrap="square" lIns="0" tIns="52925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Approval delays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centralized outing history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gate verification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return-time tracking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&amp; verification risks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1797" y="2811959"/>
            <a:ext cx="7608102" cy="314890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471774" y="3685812"/>
            <a:ext cx="1229444" cy="2108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Traditional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471774" y="3956634"/>
            <a:ext cx="1229444" cy="5735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Paper, manual records, disconnected processes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484057" y="3685812"/>
            <a:ext cx="1229445" cy="2108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Digital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484057" y="3956634"/>
            <a:ext cx="1229445" cy="4301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Centralized, role-based, auditable workflows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61475" y="6065044"/>
            <a:ext cx="11478330" cy="1799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Traditional: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Paper → Manual → Disconnected  vs  </a:t>
            </a:r>
            <a:r>
              <a:rPr lang="en-US" sz="10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Digital: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Centralized → Role-Based → Auditable</a:t>
            </a:r>
            <a:endParaRPr lang="en-US" sz="1000" dirty="0"/>
          </a:p>
        </p:txBody>
      </p:sp>
      <p:sp>
        <p:nvSpPr>
          <p:cNvPr id="20" name="Rounded Rectangle 19"/>
          <p:cNvSpPr/>
          <p:nvPr/>
        </p:nvSpPr>
        <p:spPr>
          <a:xfrm>
            <a:off x="11053445" y="6478905"/>
            <a:ext cx="1086485" cy="379095"/>
          </a:xfrm>
          <a:prstGeom prst="round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059"/>
            <a:ext cx="10868745" cy="4134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62745"/>
            <a:ext cx="11478330" cy="1799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One centralized system for the complete outing lifecycle.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1797" y="1446907"/>
            <a:ext cx="7608102" cy="34236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37882" y="1613791"/>
            <a:ext cx="1331383" cy="2057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Request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437882" y="1878063"/>
            <a:ext cx="1331383" cy="2798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Student creates outing request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754634" y="4181523"/>
            <a:ext cx="1338699" cy="2057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Approvals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754634" y="4445795"/>
            <a:ext cx="1338699" cy="2798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HOD then Warden review approvals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56756" y="1588187"/>
            <a:ext cx="1331383" cy="2057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Gate Check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56756" y="1852459"/>
            <a:ext cx="1331383" cy="2798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Watchman verifies and logs exit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73509" y="4181523"/>
            <a:ext cx="1331383" cy="2057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Audit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73509" y="4445795"/>
            <a:ext cx="1331383" cy="2798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Return recorded and audit history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1475" y="4974729"/>
            <a:ext cx="11478330" cy="1799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Student request flows through HOD and Warden approval, then gate verification by the Watchman before exit and return logging.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61475" y="5258891"/>
            <a:ext cx="5388039" cy="471190"/>
          </a:xfrm>
          <a:prstGeom prst="roundRect">
            <a:avLst>
              <a:gd name="adj" fmla="val 4212"/>
            </a:avLst>
          </a:prstGeom>
          <a:solidFill>
            <a:srgbClr val="F2EEEE"/>
          </a:solidFill>
        </p:spPr>
      </p:sp>
      <p:sp>
        <p:nvSpPr>
          <p:cNvPr id="15" name="Text 12"/>
          <p:cNvSpPr/>
          <p:nvPr/>
        </p:nvSpPr>
        <p:spPr>
          <a:xfrm>
            <a:off x="793730" y="5391150"/>
            <a:ext cx="5123528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42082" y="5258891"/>
            <a:ext cx="5388138" cy="471190"/>
          </a:xfrm>
          <a:prstGeom prst="roundRect">
            <a:avLst>
              <a:gd name="adj" fmla="val 4212"/>
            </a:avLst>
          </a:prstGeom>
          <a:solidFill>
            <a:srgbClr val="F2EEEE"/>
          </a:solidFill>
        </p:spPr>
      </p:sp>
      <p:sp>
        <p:nvSpPr>
          <p:cNvPr id="17" name="Text 14"/>
          <p:cNvSpPr/>
          <p:nvPr/>
        </p:nvSpPr>
        <p:spPr>
          <a:xfrm>
            <a:off x="6274338" y="5391150"/>
            <a:ext cx="5123627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Parent Consent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1475" y="5822652"/>
            <a:ext cx="5388039" cy="471190"/>
          </a:xfrm>
          <a:prstGeom prst="roundRect">
            <a:avLst>
              <a:gd name="adj" fmla="val 4212"/>
            </a:avLst>
          </a:prstGeom>
          <a:solidFill>
            <a:srgbClr val="F2EEEE"/>
          </a:solidFill>
        </p:spPr>
      </p:sp>
      <p:sp>
        <p:nvSpPr>
          <p:cNvPr id="19" name="Text 16"/>
          <p:cNvSpPr/>
          <p:nvPr/>
        </p:nvSpPr>
        <p:spPr>
          <a:xfrm>
            <a:off x="793730" y="5954911"/>
            <a:ext cx="5123528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Gate Verification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42082" y="5822652"/>
            <a:ext cx="5388138" cy="471190"/>
          </a:xfrm>
          <a:prstGeom prst="roundRect">
            <a:avLst>
              <a:gd name="adj" fmla="val 4212"/>
            </a:avLst>
          </a:prstGeom>
          <a:solidFill>
            <a:srgbClr val="F2EEEE"/>
          </a:solidFill>
        </p:spPr>
      </p:sp>
      <p:sp>
        <p:nvSpPr>
          <p:cNvPr id="21" name="Text 18"/>
          <p:cNvSpPr/>
          <p:nvPr/>
        </p:nvSpPr>
        <p:spPr>
          <a:xfrm>
            <a:off x="6274338" y="5954911"/>
            <a:ext cx="5123627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Late Return Detection</a:t>
            </a:r>
            <a:endParaRPr 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11053445" y="6478905"/>
            <a:ext cx="1086485" cy="379095"/>
          </a:xfrm>
          <a:prstGeom prst="round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4700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Four User Roles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43373"/>
            <a:ext cx="5339820" cy="207545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9605" y="1910457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881" y="2524820"/>
            <a:ext cx="491100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Student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75881" y="2933502"/>
            <a:ext cx="4911007" cy="670917"/>
          </a:xfrm>
          <a:prstGeom prst="rect">
            <a:avLst/>
          </a:prstGeom>
          <a:noFill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 outing requests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Track status &amp; history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90301" y="1743373"/>
            <a:ext cx="5339919" cy="207545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18530" y="1910457"/>
            <a:ext cx="283461" cy="2834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04708" y="2524820"/>
            <a:ext cx="49111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HOD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6404708" y="2933502"/>
            <a:ext cx="4911106" cy="670917"/>
          </a:xfrm>
          <a:prstGeom prst="rect">
            <a:avLst/>
          </a:prstGeom>
          <a:noFill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Approve or reject requests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Department-scoped access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007842"/>
            <a:ext cx="5339820" cy="2075458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89605" y="4174927"/>
            <a:ext cx="283461" cy="2834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75881" y="4789289"/>
            <a:ext cx="491100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Warden</a:t>
            </a:r>
            <a:endParaRPr lang="en-US" sz="1850" dirty="0"/>
          </a:p>
        </p:txBody>
      </p:sp>
      <p:sp>
        <p:nvSpPr>
          <p:cNvPr id="14" name="Text 6"/>
          <p:cNvSpPr/>
          <p:nvPr/>
        </p:nvSpPr>
        <p:spPr>
          <a:xfrm>
            <a:off x="875881" y="5197971"/>
            <a:ext cx="4911007" cy="670917"/>
          </a:xfrm>
          <a:prstGeom prst="rect">
            <a:avLst/>
          </a:prstGeom>
          <a:noFill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Confirm parent consent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Hostel-block-scoped access</a:t>
            </a:r>
            <a:endParaRPr lang="en-US" sz="14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90301" y="4007842"/>
            <a:ext cx="5339919" cy="2075458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18530" y="4174927"/>
            <a:ext cx="283461" cy="283468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404708" y="4789289"/>
            <a:ext cx="49111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Watchman</a:t>
            </a:r>
            <a:endParaRPr lang="en-US" sz="1850" dirty="0"/>
          </a:p>
        </p:txBody>
      </p:sp>
      <p:sp>
        <p:nvSpPr>
          <p:cNvPr id="18" name="Text 8"/>
          <p:cNvSpPr/>
          <p:nvPr/>
        </p:nvSpPr>
        <p:spPr>
          <a:xfrm>
            <a:off x="6404708" y="5197971"/>
            <a:ext cx="4911106" cy="670917"/>
          </a:xfrm>
          <a:prstGeom prst="rect">
            <a:avLst/>
          </a:prstGeom>
          <a:noFill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Verify approval at gate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Record exit &amp; return</a:t>
            </a:r>
            <a:endParaRPr lang="en-US" sz="1450" dirty="0"/>
          </a:p>
        </p:txBody>
      </p:sp>
      <p:sp>
        <p:nvSpPr>
          <p:cNvPr id="19" name="Rounded Rectangle 18"/>
          <p:cNvSpPr/>
          <p:nvPr/>
        </p:nvSpPr>
        <p:spPr>
          <a:xfrm>
            <a:off x="11053445" y="6478905"/>
            <a:ext cx="1086485" cy="379095"/>
          </a:xfrm>
          <a:prstGeom prst="round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Complete Outing Approval Workflow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09538"/>
            <a:ext cx="9753356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449020"/>
            <a:ext cx="11478330" cy="1134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stage transitions through defined status states: </a:t>
            </a: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PENDING_HOD → PENDING_WARDEN → APPROVED → EXITED → COMPLETED / LATE_RETURN</a:t>
            </a:r>
            <a:endParaRPr lang="en-US" sz="700" dirty="0"/>
          </a:p>
        </p:txBody>
      </p:sp>
      <p:sp>
        <p:nvSpPr>
          <p:cNvPr id="10" name="Rounded Rectangle 9"/>
          <p:cNvSpPr/>
          <p:nvPr/>
        </p:nvSpPr>
        <p:spPr>
          <a:xfrm>
            <a:off x="11053445" y="6478905"/>
            <a:ext cx="1086485" cy="379095"/>
          </a:xfrm>
          <a:prstGeom prst="round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Architecture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889250"/>
            <a:ext cx="5315512" cy="1523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Technology Stack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6221058" y="3098006"/>
            <a:ext cx="2632604" cy="515441"/>
          </a:xfrm>
          <a:prstGeom prst="roundRect">
            <a:avLst>
              <a:gd name="adj" fmla="val 2836"/>
            </a:avLst>
          </a:prstGeom>
          <a:solidFill>
            <a:srgbClr val="F2EEEE"/>
          </a:solidFill>
        </p:spPr>
      </p:sp>
      <p:sp>
        <p:nvSpPr>
          <p:cNvPr id="6" name="Text 3"/>
          <p:cNvSpPr/>
          <p:nvPr/>
        </p:nvSpPr>
        <p:spPr>
          <a:xfrm>
            <a:off x="6318489" y="3195439"/>
            <a:ext cx="2437744" cy="1523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Frontend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318489" y="3397945"/>
            <a:ext cx="2437744" cy="118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React · TypeScript · Vite · Tailwind CSS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8903866" y="3098006"/>
            <a:ext cx="2632704" cy="515441"/>
          </a:xfrm>
          <a:prstGeom prst="roundRect">
            <a:avLst>
              <a:gd name="adj" fmla="val 2836"/>
            </a:avLst>
          </a:prstGeom>
          <a:solidFill>
            <a:srgbClr val="F2EEEE"/>
          </a:solidFill>
        </p:spPr>
      </p:sp>
      <p:sp>
        <p:nvSpPr>
          <p:cNvPr id="9" name="Text 6"/>
          <p:cNvSpPr/>
          <p:nvPr/>
        </p:nvSpPr>
        <p:spPr>
          <a:xfrm>
            <a:off x="9001297" y="3195439"/>
            <a:ext cx="2437843" cy="1523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Backend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001297" y="3397945"/>
            <a:ext cx="2437843" cy="118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 · FastAPI · SQLAlchemy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221058" y="3663652"/>
            <a:ext cx="2632604" cy="515441"/>
          </a:xfrm>
          <a:prstGeom prst="roundRect">
            <a:avLst>
              <a:gd name="adj" fmla="val 2836"/>
            </a:avLst>
          </a:prstGeom>
          <a:solidFill>
            <a:srgbClr val="F2EEEE"/>
          </a:solidFill>
        </p:spPr>
      </p:sp>
      <p:sp>
        <p:nvSpPr>
          <p:cNvPr id="12" name="Text 9"/>
          <p:cNvSpPr/>
          <p:nvPr/>
        </p:nvSpPr>
        <p:spPr>
          <a:xfrm>
            <a:off x="6318489" y="3761085"/>
            <a:ext cx="2437744" cy="1523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Auth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318489" y="3963591"/>
            <a:ext cx="2437744" cy="118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JWT · Bcrypt · Role-Based Authorization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8903866" y="3663652"/>
            <a:ext cx="2632704" cy="515441"/>
          </a:xfrm>
          <a:prstGeom prst="roundRect">
            <a:avLst>
              <a:gd name="adj" fmla="val 2836"/>
            </a:avLst>
          </a:prstGeom>
          <a:solidFill>
            <a:srgbClr val="F2EEEE"/>
          </a:solidFill>
        </p:spPr>
      </p:sp>
      <p:sp>
        <p:nvSpPr>
          <p:cNvPr id="15" name="Text 12"/>
          <p:cNvSpPr/>
          <p:nvPr/>
        </p:nvSpPr>
        <p:spPr>
          <a:xfrm>
            <a:off x="9001297" y="3761085"/>
            <a:ext cx="2437843" cy="1523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Database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001297" y="3963591"/>
            <a:ext cx="2437843" cy="118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SQLite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221058" y="4235549"/>
            <a:ext cx="5925096" cy="118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Frontend → REST API → FastAPI → SQLAlchemy → Database</a:t>
            </a:r>
            <a:endParaRPr lang="en-US" sz="750" dirty="0"/>
          </a:p>
        </p:txBody>
      </p:sp>
      <p:sp>
        <p:nvSpPr>
          <p:cNvPr id="18" name="Rounded Rectangle 17"/>
          <p:cNvSpPr/>
          <p:nvPr/>
        </p:nvSpPr>
        <p:spPr>
          <a:xfrm>
            <a:off x="11053445" y="6478905"/>
            <a:ext cx="1086485" cy="379095"/>
          </a:xfrm>
          <a:prstGeom prst="round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4752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Database, Security &amp; Access Control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97881"/>
            <a:ext cx="520379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Core Entities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605782"/>
            <a:ext cx="2507394" cy="724098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5881" y="2820194"/>
            <a:ext cx="2078581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Users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3357875" y="2605782"/>
            <a:ext cx="2507394" cy="724098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2282" y="2820194"/>
            <a:ext cx="2078581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Departments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61475" y="3518892"/>
            <a:ext cx="2507394" cy="724098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5881" y="3733304"/>
            <a:ext cx="2078581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Hostel Blocks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3357875" y="3518892"/>
            <a:ext cx="2507394" cy="724098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2282" y="3733304"/>
            <a:ext cx="2078581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Outing Requests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61475" y="4432002"/>
            <a:ext cx="2507394" cy="724098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5881" y="4646414"/>
            <a:ext cx="2078581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Approval History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3357875" y="4432002"/>
            <a:ext cx="2507394" cy="724098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2282" y="4646414"/>
            <a:ext cx="2078581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Gate Logs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332776" y="2097881"/>
            <a:ext cx="520379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Security Model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32776" y="2582168"/>
            <a:ext cx="5203794" cy="1776413"/>
          </a:xfrm>
          <a:prstGeom prst="rect">
            <a:avLst/>
          </a:prstGeom>
          <a:noFill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JWT authentication + Bcrypt hashing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Backend-enforced authorization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Department &amp; hostel-block scoping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Mandatory parent consent before Warden approval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audit history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32776" y="4571206"/>
            <a:ext cx="5203794" cy="1039416"/>
          </a:xfrm>
          <a:prstGeom prst="roundRect">
            <a:avLst>
              <a:gd name="adj" fmla="val 2728"/>
            </a:avLst>
          </a:prstGeom>
          <a:solidFill>
            <a:srgbClr val="CCD7FF"/>
          </a:solidFill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783" y="4845248"/>
            <a:ext cx="236234" cy="18901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947024" y="4788495"/>
            <a:ext cx="4400539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Authorization enforced at the backend, not only the frontend.</a:t>
            </a:r>
            <a:endParaRPr lang="en-US" sz="1450" dirty="0"/>
          </a:p>
        </p:txBody>
      </p:sp>
      <p:sp>
        <p:nvSpPr>
          <p:cNvPr id="21" name="Rounded Rectangle 20"/>
          <p:cNvSpPr/>
          <p:nvPr/>
        </p:nvSpPr>
        <p:spPr>
          <a:xfrm>
            <a:off x="11053445" y="6478905"/>
            <a:ext cx="1086485" cy="379095"/>
          </a:xfrm>
          <a:prstGeom prst="round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4206"/>
            <a:ext cx="10868745" cy="3839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Late Return Detection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0599" y="1177826"/>
            <a:ext cx="6950496" cy="34167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1657" y="1492189"/>
            <a:ext cx="1589501" cy="1986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Calculate Delay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21657" y="1747398"/>
            <a:ext cx="3214324" cy="1311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Compute minutes late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21657" y="2290492"/>
            <a:ext cx="1589501" cy="1986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Late Return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21657" y="2545701"/>
            <a:ext cx="3214324" cy="1311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Actual &gt; Expected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21657" y="3088794"/>
            <a:ext cx="1589501" cy="1986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Completed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21657" y="3344004"/>
            <a:ext cx="3214324" cy="1311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Actual ≤ Expected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28721" y="3887097"/>
            <a:ext cx="1589501" cy="1986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Compare Returns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28721" y="4142306"/>
            <a:ext cx="3214324" cy="1311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Check expected vs actual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1475" y="4684415"/>
            <a:ext cx="11478330" cy="162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 compares expected and actual return timestamps to determine outing outcome.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3073" y="4936331"/>
            <a:ext cx="5461359" cy="1287363"/>
          </a:xfrm>
          <a:prstGeom prst="roundRect">
            <a:avLst>
              <a:gd name="adj" fmla="val 1432"/>
            </a:avLst>
          </a:prstGeom>
          <a:solidFill>
            <a:srgbClr val="2150FE"/>
          </a:solidFill>
        </p:spPr>
      </p:sp>
      <p:sp>
        <p:nvSpPr>
          <p:cNvPr id="14" name="Text 11"/>
          <p:cNvSpPr/>
          <p:nvPr/>
        </p:nvSpPr>
        <p:spPr>
          <a:xfrm>
            <a:off x="695903" y="5016103"/>
            <a:ext cx="5215700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Example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5903" y="5287863"/>
            <a:ext cx="5215700" cy="863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Expected: </a:t>
            </a: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6:00 PM</a:t>
            </a:r>
            <a:endParaRPr lang="en-US" sz="950" dirty="0"/>
          </a:p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Actual: </a:t>
            </a: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6:35 PM</a:t>
            </a:r>
            <a:endParaRPr lang="en-US" sz="950" dirty="0"/>
          </a:p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Result: </a:t>
            </a: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LATE_RETURN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Delay: </a:t>
            </a: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35 minutes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52014" y="5016103"/>
            <a:ext cx="5284556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Behavior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52014" y="5287863"/>
            <a:ext cx="5284556" cy="32424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Late students are </a:t>
            </a: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not blocked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returning — the system records the delay and logs it to audit history.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252014" y="5701903"/>
            <a:ext cx="1210438" cy="18663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25632" y="5738713"/>
            <a:ext cx="1672786" cy="113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STAGE 3 REQUIREMENT</a:t>
            </a:r>
            <a:endParaRPr lang="en-US" sz="750" dirty="0"/>
          </a:p>
        </p:txBody>
      </p:sp>
      <p:sp>
        <p:nvSpPr>
          <p:cNvPr id="20" name="Rounded Rectangle 19"/>
          <p:cNvSpPr/>
          <p:nvPr/>
        </p:nvSpPr>
        <p:spPr>
          <a:xfrm>
            <a:off x="11053445" y="6478905"/>
            <a:ext cx="1086485" cy="379095"/>
          </a:xfrm>
          <a:prstGeom prst="round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3151"/>
            <a:ext cx="10868745" cy="4430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Testing &amp; AI-Assisted Development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311870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Automated Testing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52885"/>
            <a:ext cx="5261439" cy="8476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8403" y="1813620"/>
            <a:ext cx="486378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Pytest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98403" y="2141339"/>
            <a:ext cx="4863780" cy="198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Backend unit &amp; integration tests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06774"/>
            <a:ext cx="5261439" cy="8476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8403" y="2767509"/>
            <a:ext cx="486378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Playwright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98403" y="3095228"/>
            <a:ext cx="4863780" cy="198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End-to-end browser tests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560663"/>
            <a:ext cx="5261439" cy="8476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8403" y="3721398"/>
            <a:ext cx="486378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Frontend Build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98403" y="4049117"/>
            <a:ext cx="4863780" cy="198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TypeScript &amp; production validation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275131" y="1311870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Stage 3 AI Change Loop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275131" y="1652885"/>
            <a:ext cx="283461" cy="1772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75131" y="1874738"/>
            <a:ext cx="5261439" cy="1905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16" name="Text 11"/>
          <p:cNvSpPr/>
          <p:nvPr/>
        </p:nvSpPr>
        <p:spPr>
          <a:xfrm>
            <a:off x="6275131" y="1983680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New Requirement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275131" y="2417663"/>
            <a:ext cx="283461" cy="1772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275131" y="2639516"/>
            <a:ext cx="5261439" cy="1905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19" name="Text 14"/>
          <p:cNvSpPr/>
          <p:nvPr/>
        </p:nvSpPr>
        <p:spPr>
          <a:xfrm>
            <a:off x="6275131" y="2748459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AI-Assisted Implementation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275131" y="3182441"/>
            <a:ext cx="283461" cy="1772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75131" y="3404295"/>
            <a:ext cx="5261439" cy="1905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22" name="Text 17"/>
          <p:cNvSpPr/>
          <p:nvPr/>
        </p:nvSpPr>
        <p:spPr>
          <a:xfrm>
            <a:off x="6275131" y="3513237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Run Tests → Failure (Red)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275131" y="3947220"/>
            <a:ext cx="283461" cy="1772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275131" y="4169073"/>
            <a:ext cx="5261439" cy="1905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25" name="Text 20"/>
          <p:cNvSpPr/>
          <p:nvPr/>
        </p:nvSpPr>
        <p:spPr>
          <a:xfrm>
            <a:off x="6275131" y="4278015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Diagnosis &amp; Fix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6275131" y="4711998"/>
            <a:ext cx="283461" cy="1772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275131" y="4933851"/>
            <a:ext cx="5261439" cy="1905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28" name="Text 23"/>
          <p:cNvSpPr/>
          <p:nvPr/>
        </p:nvSpPr>
        <p:spPr>
          <a:xfrm>
            <a:off x="6275131" y="5042793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Re-Run → Pass (Green)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6275131" y="5476776"/>
            <a:ext cx="283461" cy="1772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275131" y="5698629"/>
            <a:ext cx="5261439" cy="1905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31" name="Text 26"/>
          <p:cNvSpPr/>
          <p:nvPr/>
        </p:nvSpPr>
        <p:spPr>
          <a:xfrm>
            <a:off x="6275131" y="5807571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Full Regression</a:t>
            </a:r>
            <a:endParaRPr lang="en-US" sz="1350" dirty="0"/>
          </a:p>
        </p:txBody>
      </p:sp>
      <p:sp>
        <p:nvSpPr>
          <p:cNvPr id="32" name="Rounded Rectangle 31"/>
          <p:cNvSpPr/>
          <p:nvPr/>
        </p:nvSpPr>
        <p:spPr>
          <a:xfrm>
            <a:off x="11053445" y="6478905"/>
            <a:ext cx="1086485" cy="379095"/>
          </a:xfrm>
          <a:prstGeom prst="round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868"/>
            <a:ext cx="10868745" cy="552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Results &amp; Live Demonstration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528465"/>
            <a:ext cx="5218776" cy="2761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Outcomes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61475" y="1990527"/>
            <a:ext cx="2526741" cy="905669"/>
          </a:xfrm>
          <a:prstGeom prst="roundRect">
            <a:avLst>
              <a:gd name="adj" fmla="val 2928"/>
            </a:avLst>
          </a:prstGeom>
          <a:solidFill>
            <a:srgbClr val="F2EEEE"/>
          </a:solidFill>
        </p:spPr>
      </p:sp>
      <p:sp>
        <p:nvSpPr>
          <p:cNvPr id="5" name="Text 3"/>
          <p:cNvSpPr/>
          <p:nvPr/>
        </p:nvSpPr>
        <p:spPr>
          <a:xfrm>
            <a:off x="838179" y="2167235"/>
            <a:ext cx="2173332" cy="5522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✓ Digitalized Outing Workflow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353510" y="1990527"/>
            <a:ext cx="2526741" cy="905669"/>
          </a:xfrm>
          <a:prstGeom prst="roundRect">
            <a:avLst>
              <a:gd name="adj" fmla="val 2928"/>
            </a:avLst>
          </a:prstGeom>
          <a:solidFill>
            <a:srgbClr val="F2EEEE"/>
          </a:solidFill>
        </p:spPr>
      </p:sp>
      <p:sp>
        <p:nvSpPr>
          <p:cNvPr id="7" name="Text 5"/>
          <p:cNvSpPr/>
          <p:nvPr/>
        </p:nvSpPr>
        <p:spPr>
          <a:xfrm>
            <a:off x="3530214" y="2167235"/>
            <a:ext cx="2173332" cy="5522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✓ Role-Based Access Control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1475" y="3061494"/>
            <a:ext cx="2526741" cy="905669"/>
          </a:xfrm>
          <a:prstGeom prst="roundRect">
            <a:avLst>
              <a:gd name="adj" fmla="val 2928"/>
            </a:avLst>
          </a:prstGeom>
          <a:solidFill>
            <a:srgbClr val="F2EEEE"/>
          </a:solidFill>
        </p:spPr>
      </p:sp>
      <p:sp>
        <p:nvSpPr>
          <p:cNvPr id="9" name="Text 7"/>
          <p:cNvSpPr/>
          <p:nvPr/>
        </p:nvSpPr>
        <p:spPr>
          <a:xfrm>
            <a:off x="838179" y="3238202"/>
            <a:ext cx="2173332" cy="5522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✓ Parent Consent Verification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53510" y="3061494"/>
            <a:ext cx="2526741" cy="905669"/>
          </a:xfrm>
          <a:prstGeom prst="roundRect">
            <a:avLst>
              <a:gd name="adj" fmla="val 2928"/>
            </a:avLst>
          </a:prstGeom>
          <a:solidFill>
            <a:srgbClr val="F2EEEE"/>
          </a:solidFill>
        </p:spPr>
      </p:sp>
      <p:sp>
        <p:nvSpPr>
          <p:cNvPr id="11" name="Text 9"/>
          <p:cNvSpPr/>
          <p:nvPr/>
        </p:nvSpPr>
        <p:spPr>
          <a:xfrm>
            <a:off x="3530214" y="3238202"/>
            <a:ext cx="2173332" cy="5522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✓ Gate Movement Tracking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61475" y="4132461"/>
            <a:ext cx="2526741" cy="905669"/>
          </a:xfrm>
          <a:prstGeom prst="roundRect">
            <a:avLst>
              <a:gd name="adj" fmla="val 2928"/>
            </a:avLst>
          </a:prstGeom>
          <a:solidFill>
            <a:srgbClr val="F2EEEE"/>
          </a:solidFill>
        </p:spPr>
      </p:sp>
      <p:sp>
        <p:nvSpPr>
          <p:cNvPr id="13" name="Text 11"/>
          <p:cNvSpPr/>
          <p:nvPr/>
        </p:nvSpPr>
        <p:spPr>
          <a:xfrm>
            <a:off x="838179" y="4309170"/>
            <a:ext cx="2173332" cy="5522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✓ Late Return Detection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353510" y="4132461"/>
            <a:ext cx="2526741" cy="905669"/>
          </a:xfrm>
          <a:prstGeom prst="roundRect">
            <a:avLst>
              <a:gd name="adj" fmla="val 2928"/>
            </a:avLst>
          </a:prstGeom>
          <a:solidFill>
            <a:srgbClr val="F2EEEE"/>
          </a:solidFill>
        </p:spPr>
      </p:sp>
      <p:sp>
        <p:nvSpPr>
          <p:cNvPr id="15" name="Text 13"/>
          <p:cNvSpPr/>
          <p:nvPr/>
        </p:nvSpPr>
        <p:spPr>
          <a:xfrm>
            <a:off x="3530214" y="4309170"/>
            <a:ext cx="2173332" cy="5522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✓ Centralized Audit History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61475" y="5203428"/>
            <a:ext cx="2526741" cy="905669"/>
          </a:xfrm>
          <a:prstGeom prst="roundRect">
            <a:avLst>
              <a:gd name="adj" fmla="val 2928"/>
            </a:avLst>
          </a:prstGeom>
          <a:solidFill>
            <a:srgbClr val="F2EEEE"/>
          </a:solidFill>
        </p:spPr>
      </p:sp>
      <p:sp>
        <p:nvSpPr>
          <p:cNvPr id="17" name="Text 15"/>
          <p:cNvSpPr/>
          <p:nvPr/>
        </p:nvSpPr>
        <p:spPr>
          <a:xfrm>
            <a:off x="838179" y="5380137"/>
            <a:ext cx="2173332" cy="5522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✓ Automated Backend &amp; E2E Testing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353510" y="5203428"/>
            <a:ext cx="2526741" cy="905669"/>
          </a:xfrm>
          <a:prstGeom prst="roundRect">
            <a:avLst>
              <a:gd name="adj" fmla="val 2928"/>
            </a:avLst>
          </a:prstGeom>
          <a:solidFill>
            <a:srgbClr val="F2EEEE"/>
          </a:solidFill>
        </p:spPr>
      </p:sp>
      <p:sp>
        <p:nvSpPr>
          <p:cNvPr id="19" name="Text 17"/>
          <p:cNvSpPr/>
          <p:nvPr/>
        </p:nvSpPr>
        <p:spPr>
          <a:xfrm>
            <a:off x="3530214" y="5380137"/>
            <a:ext cx="2173332" cy="5522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✓ AI-Assisted Stage 3 Change Loop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190500" y="1363166"/>
            <a:ext cx="5473365" cy="4931866"/>
          </a:xfrm>
          <a:prstGeom prst="roundRect">
            <a:avLst>
              <a:gd name="adj" fmla="val 538"/>
            </a:avLst>
          </a:prstGeom>
          <a:solidFill>
            <a:srgbClr val="2150FE"/>
          </a:solidFill>
        </p:spPr>
      </p:sp>
      <p:sp>
        <p:nvSpPr>
          <p:cNvPr id="21" name="Text 19"/>
          <p:cNvSpPr/>
          <p:nvPr/>
        </p:nvSpPr>
        <p:spPr>
          <a:xfrm>
            <a:off x="6367204" y="1528465"/>
            <a:ext cx="5119956" cy="2761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Live Demonstration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67204" y="1969889"/>
            <a:ext cx="5119956" cy="969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11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Student → HOD → Warden → Watchman → Return → Audit</a:t>
            </a:r>
            <a:endParaRPr lang="en-US" sz="135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centralized, role-based and auditable solution for hostel outing management.</a:t>
            </a:r>
            <a:endParaRPr lang="en-US" sz="1350" dirty="0"/>
          </a:p>
        </p:txBody>
      </p:sp>
      <p:sp>
        <p:nvSpPr>
          <p:cNvPr id="23" name="Rounded Rectangle 22"/>
          <p:cNvSpPr/>
          <p:nvPr/>
        </p:nvSpPr>
        <p:spPr>
          <a:xfrm>
            <a:off x="11053445" y="6478905"/>
            <a:ext cx="1086485" cy="379095"/>
          </a:xfrm>
          <a:prstGeom prst="round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3263</Words>
  <Application>WPS Presentation</Application>
  <PresentationFormat>On-screen Show (16:9)</PresentationFormat>
  <Paragraphs>245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2" baseType="lpstr">
      <vt:lpstr>Arial</vt:lpstr>
      <vt:lpstr>SimSun</vt:lpstr>
      <vt:lpstr>Wingdings</vt:lpstr>
      <vt:lpstr>Crimson Pro SemiBold</vt:lpstr>
      <vt:lpstr>Crimson Pro SemiBold</vt:lpstr>
      <vt:lpstr>Crimson Pro SemiBold</vt:lpstr>
      <vt:lpstr>Heebo</vt:lpstr>
      <vt:lpstr>Heebo</vt:lpstr>
      <vt:lpstr>Heebo</vt:lpstr>
      <vt:lpstr>Heebo Bold</vt:lpstr>
      <vt:lpstr>Heebo Bold</vt:lpstr>
      <vt:lpstr>Heebo Bold</vt:lpstr>
      <vt:lpstr>Crimson Pro Light</vt:lpstr>
      <vt:lpstr>Segoe Print</vt:lpstr>
      <vt:lpstr>Crimson Pro Light</vt:lpstr>
      <vt:lpstr>Crimson Pro Light</vt:lpstr>
      <vt:lpstr>Calibri</vt:lpstr>
      <vt:lpstr>Microsoft YaHei</vt:lpstr>
      <vt:lpstr>Arial Unicode MS</vt:lpstr>
      <vt:lpstr>MS PGothic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shrik</cp:lastModifiedBy>
  <cp:revision>2</cp:revision>
  <dcterms:created xsi:type="dcterms:W3CDTF">2026-08-13T17:11:00Z</dcterms:created>
  <dcterms:modified xsi:type="dcterms:W3CDTF">2026-08-13T17:13:01Z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857012723CB947F0B6A7C0AE13B05232_12</vt:lpwstr>
  </property>
  <property fmtid="{D5CDD505-2E9C-101B-9397-08002B2CF9AE}" pid="3" name="KSOProductBuildVer">
    <vt:lpwstr>1033-12.1.0.28032</vt:lpwstr>
  </property>
</Properties>
</file>